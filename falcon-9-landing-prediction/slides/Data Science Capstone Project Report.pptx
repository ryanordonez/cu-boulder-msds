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SpaceY Launch Cost Prediction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E86C1"/>
                </a:solidFill>
                <a:latin typeface="Calibri"/>
              </a:defRPr>
            </a:pPr>
            <a:r>
              <a:t>Predicting Falcon 9 First Stage Landing Success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BB"/>
                </a:solidFill>
                <a:latin typeface="Calibri"/>
              </a:defRPr>
            </a:pPr>
            <a:r>
              <a:t>IBM Data Science Professional Certificate — Capstone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Ryan Ordonez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E86C1"/>
                </a:solidFill>
                <a:latin typeface="Calibri"/>
              </a:defRPr>
            </a:pPr>
            <a:r>
              <a:t>GitHub: https://github.com/RyanOrdonez/spacey-capstone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800" b="1">
                <a:solidFill>
                  <a:srgbClr val="1B2A4A"/>
                </a:solidFill>
                <a:latin typeface="Calibri"/>
              </a:defRPr>
            </a:pPr>
            <a:r>
              <a:t>Methods Used: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Data collected via SpaceX REST API (v4) and Wikipedia web scraping using BeautifulSoup.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Data wrangled: missing value imputation, target variable (Class) engineering.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EDA performed with Matplotlib, Seaborn visualizations and 10 SQL queries in SQLite.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Interactive analytics built with Folium maps and a Plotly Dash dashboard.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Four classification models trained with GridSearchCV (cv=10): Logistic Regression, SVM, Decision Tree, KNN.</a:t>
            </a:r>
          </a:p>
          <a:p>
            <a:pPr algn="l">
              <a:spcBef>
                <a:spcPts val="400"/>
              </a:spcBef>
              <a:defRPr sz="8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800" b="1">
                <a:solidFill>
                  <a:srgbClr val="1B2A4A"/>
                </a:solidFill>
                <a:latin typeface="Calibri"/>
              </a:defRPr>
            </a:pPr>
            <a:r>
              <a:t>Key Results: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All four models achieved 83.33% test accuracy on 18 test samples.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Decision Tree achieved the highest cross-validation score: 88.75%.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Landing success rate improved from 0% (2010) to over 80% (2020).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KSC LC-39A is the most successful launch site; ES-L1, GEO, HEO, SSO orbits show 100% success.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Successful landing prediction enables competitive bidding at ~$62M vs ~$165M per launch.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6C1"/>
                </a:solidFill>
                <a:latin typeface="Calibri"/>
              </a:defRPr>
            </a:pPr>
            <a:r>
              <a:t>GitHub: https://github.com/RyanOrdonez/spacey-capstone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097280"/>
            <a:ext cx="9144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defRPr sz="1700" b="0">
                <a:solidFill>
                  <a:srgbClr val="333333"/>
                </a:solidFill>
                <a:latin typeface="Calibri"/>
              </a:defRPr>
            </a:pPr>
            <a:r>
              <a:t>1.   Executive Summary</a:t>
            </a:r>
          </a:p>
          <a:p>
            <a:pPr algn="l">
              <a:spcBef>
                <a:spcPts val="200"/>
              </a:spcBef>
              <a:defRPr sz="1700" b="0">
                <a:solidFill>
                  <a:srgbClr val="333333"/>
                </a:solidFill>
                <a:latin typeface="Calibri"/>
              </a:defRPr>
            </a:pPr>
            <a:r>
              <a:t>2.   Introduction</a:t>
            </a:r>
          </a:p>
          <a:p>
            <a:pPr algn="l">
              <a:spcBef>
                <a:spcPts val="200"/>
              </a:spcBef>
              <a:defRPr sz="1700" b="0">
                <a:solidFill>
                  <a:srgbClr val="333333"/>
                </a:solidFill>
                <a:latin typeface="Calibri"/>
              </a:defRPr>
            </a:pPr>
            <a:r>
              <a:t>3.   Data Collection — SpaceX API  (Methodology)</a:t>
            </a:r>
          </a:p>
          <a:p>
            <a:pPr algn="l">
              <a:spcBef>
                <a:spcPts val="200"/>
              </a:spcBef>
              <a:defRPr sz="1700" b="0">
                <a:solidFill>
                  <a:srgbClr val="333333"/>
                </a:solidFill>
                <a:latin typeface="Calibri"/>
              </a:defRPr>
            </a:pPr>
            <a:r>
              <a:t>4.   Data Collection — Web Scraping  (Methodology)</a:t>
            </a:r>
          </a:p>
          <a:p>
            <a:pPr algn="l">
              <a:spcBef>
                <a:spcPts val="200"/>
              </a:spcBef>
              <a:defRPr sz="1700" b="0">
                <a:solidFill>
                  <a:srgbClr val="333333"/>
                </a:solidFill>
                <a:latin typeface="Calibri"/>
              </a:defRPr>
            </a:pPr>
            <a:r>
              <a:t>5.   Data Wrangling  (Methodology)</a:t>
            </a:r>
          </a:p>
          <a:p>
            <a:pPr algn="l">
              <a:spcBef>
                <a:spcPts val="200"/>
              </a:spcBef>
              <a:defRPr sz="1700" b="0">
                <a:solidFill>
                  <a:srgbClr val="333333"/>
                </a:solidFill>
                <a:latin typeface="Calibri"/>
              </a:defRPr>
            </a:pPr>
            <a:r>
              <a:t>6.   EDA with Data Visualization  (Methodology)</a:t>
            </a:r>
          </a:p>
          <a:p>
            <a:pPr algn="l">
              <a:spcBef>
                <a:spcPts val="200"/>
              </a:spcBef>
              <a:defRPr sz="1700" b="0">
                <a:solidFill>
                  <a:srgbClr val="333333"/>
                </a:solidFill>
                <a:latin typeface="Calibri"/>
              </a:defRPr>
            </a:pPr>
            <a:r>
              <a:t>7.   EDA with SQL  (Methodology)</a:t>
            </a:r>
          </a:p>
          <a:p>
            <a:pPr algn="l">
              <a:spcBef>
                <a:spcPts val="200"/>
              </a:spcBef>
              <a:defRPr sz="1700" b="0">
                <a:solidFill>
                  <a:srgbClr val="333333"/>
                </a:solidFill>
                <a:latin typeface="Calibri"/>
              </a:defRPr>
            </a:pPr>
            <a:r>
              <a:t>8.   Interactive Visual Analytics  (Methodology)</a:t>
            </a:r>
          </a:p>
          <a:p>
            <a:pPr algn="l">
              <a:spcBef>
                <a:spcPts val="200"/>
              </a:spcBef>
              <a:defRPr sz="1700" b="0">
                <a:solidFill>
                  <a:srgbClr val="333333"/>
                </a:solidFill>
                <a:latin typeface="Calibri"/>
              </a:defRPr>
            </a:pPr>
            <a:r>
              <a:t>9.   Predictive Analysis  (Methodology)</a:t>
            </a:r>
          </a:p>
          <a:p>
            <a:pPr algn="l">
              <a:spcBef>
                <a:spcPts val="200"/>
              </a:spcBef>
              <a:defRPr sz="1700" b="0">
                <a:solidFill>
                  <a:srgbClr val="333333"/>
                </a:solidFill>
                <a:latin typeface="Calibri"/>
              </a:defRPr>
            </a:pPr>
            <a:r>
              <a:t>10.  EDA Visualization Results</a:t>
            </a:r>
          </a:p>
          <a:p>
            <a:pPr algn="l">
              <a:spcBef>
                <a:spcPts val="200"/>
              </a:spcBef>
              <a:defRPr sz="1700" b="0">
                <a:solidFill>
                  <a:srgbClr val="333333"/>
                </a:solidFill>
                <a:latin typeface="Calibri"/>
              </a:defRPr>
            </a:pPr>
            <a:r>
              <a:t>11.  EDA with SQL Results</a:t>
            </a:r>
          </a:p>
          <a:p>
            <a:pPr algn="l">
              <a:spcBef>
                <a:spcPts val="200"/>
              </a:spcBef>
              <a:defRPr sz="1700" b="0">
                <a:solidFill>
                  <a:srgbClr val="333333"/>
                </a:solidFill>
                <a:latin typeface="Calibri"/>
              </a:defRPr>
            </a:pPr>
            <a:r>
              <a:t>12.  Interactive Maps — Folium Results</a:t>
            </a:r>
          </a:p>
          <a:p>
            <a:pPr algn="l">
              <a:spcBef>
                <a:spcPts val="200"/>
              </a:spcBef>
              <a:defRPr sz="1700" b="0">
                <a:solidFill>
                  <a:srgbClr val="333333"/>
                </a:solidFill>
                <a:latin typeface="Calibri"/>
              </a:defRPr>
            </a:pPr>
            <a:r>
              <a:t>13.  Interactive Dashboard — Plotly Dash Results</a:t>
            </a:r>
          </a:p>
          <a:p>
            <a:pPr algn="l">
              <a:spcBef>
                <a:spcPts val="200"/>
              </a:spcBef>
              <a:defRPr sz="1700" b="0">
                <a:solidFill>
                  <a:srgbClr val="333333"/>
                </a:solidFill>
                <a:latin typeface="Calibri"/>
              </a:defRPr>
            </a:pPr>
            <a:r>
              <a:t>14.  Predictive Analysis Results</a:t>
            </a:r>
          </a:p>
          <a:p>
            <a:pPr algn="l">
              <a:spcBef>
                <a:spcPts val="200"/>
              </a:spcBef>
              <a:defRPr sz="1700" b="0">
                <a:solidFill>
                  <a:srgbClr val="333333"/>
                </a:solidFill>
                <a:latin typeface="Calibri"/>
              </a:defRPr>
            </a:pPr>
            <a:r>
              <a:t>15.  Conclusion &amp; Innovative Insights</a:t>
            </a:r>
          </a:p>
          <a:p>
            <a:pPr algn="l">
              <a:spcBef>
                <a:spcPts val="200"/>
              </a:spcBef>
              <a:defRPr sz="1700" b="0">
                <a:solidFill>
                  <a:srgbClr val="333333"/>
                </a:solidFill>
                <a:latin typeface="Calibri"/>
              </a:defRPr>
            </a:pPr>
            <a:r>
              <a:t>16.  Appendix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2200" b="1">
                <a:solidFill>
                  <a:srgbClr val="1B2A4A"/>
                </a:solidFill>
                <a:latin typeface="Calibri"/>
              </a:defRPr>
            </a:pPr>
            <a:r>
              <a:t>Project Background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SpaceX has disrupted the rocket launch industry by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successfully landing and reusing the Falcon 9 first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stage, reducing launch cost from ~$165M to ~$62M.</a:t>
            </a:r>
          </a:p>
          <a:p>
            <a:pPr algn="l">
              <a:spcBef>
                <a:spcPts val="400"/>
              </a:spcBef>
              <a:defRPr sz="8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2200" b="1">
                <a:solidFill>
                  <a:srgbClr val="1B2A4A"/>
                </a:solidFill>
                <a:latin typeface="Calibri"/>
              </a:defRPr>
            </a:pPr>
            <a:r>
              <a:t>Problem Statement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SpaceY, a fictional competitor, wants to predict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whether the Falcon 9 first stage will land successfully.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This prediction directly determines launch cost: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27AE60"/>
                </a:solidFill>
                <a:latin typeface="Calibri"/>
              </a:defRPr>
            </a:pPr>
            <a:r>
              <a:t>  • Successful landing  →  ~$62M (reusable)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E74C3C"/>
                </a:solidFill>
                <a:latin typeface="Calibri"/>
              </a:defRPr>
            </a:pPr>
            <a:r>
              <a:t>  • Failed landing  →  ~$165M (expendable)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2200" b="1">
                <a:solidFill>
                  <a:srgbClr val="1B2A4A"/>
                </a:solidFill>
                <a:latin typeface="Calibri"/>
              </a:defRPr>
            </a:pPr>
            <a:r>
              <a:t>Methodology Overview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1. Data Collection (SpaceX API + Web Scraping)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2. Data Wrangling (cleaning, Class variable)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3. EDA with Visualization (Matplotlib, Seaborn)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4. EDA with SQL (SQLite, 10 queries)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5. Interactive Analytics (Folium maps, Plotly Dash)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6. Predictive Modeling (LR, SVM, DT, KNN)</a:t>
            </a:r>
          </a:p>
          <a:p>
            <a:pPr algn="l">
              <a:spcBef>
                <a:spcPts val="400"/>
              </a:spcBef>
              <a:defRPr sz="8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600" b="1">
                <a:solidFill>
                  <a:srgbClr val="1B2A4A"/>
                </a:solidFill>
                <a:latin typeface="Calibri"/>
              </a:defRPr>
            </a:pPr>
            <a:r>
              <a:t>Dataset: 90 Falcon 9 launches (2010–2020)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Target: Class (1 = landed, 0 = failed/no attempt)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Features: 83 columns after one-hot encoding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6C1"/>
                </a:solidFill>
                <a:latin typeface="Calibri"/>
              </a:defRPr>
            </a:pPr>
            <a:r>
              <a:t>GitHub: https://github.com/RyanOrdonez/spacey-capstone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Data Collection Methodology — SpaceX REST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500" b="1">
                <a:solidFill>
                  <a:srgbClr val="2E86C1"/>
                </a:solidFill>
                <a:latin typeface="Calibri"/>
              </a:defRPr>
            </a:pPr>
            <a:r>
              <a:t>API Endpoint: api.spacexdata.com/v4</a:t>
            </a:r>
          </a:p>
          <a:p>
            <a:pPr algn="l">
              <a:spcBef>
                <a:spcPts val="400"/>
              </a:spcBef>
              <a:defRPr sz="6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800" b="1">
                <a:solidFill>
                  <a:srgbClr val="1B2A4A"/>
                </a:solidFill>
                <a:latin typeface="Calibri"/>
              </a:defRPr>
            </a:pPr>
            <a:r>
              <a:t>Data Collection Process (Flowchart):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┌─────────────────────────────────┐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│ GET /v4/launches/past           │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│ (Retrieve all past launches)    │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└──────────────┬──────────────────┘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             ▼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┌─────────────────────────────────┐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│ Filter: rocket == Falcon 9 ID   │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│ (5e9d0d95eda69973a809d1ec)      │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└──────────────┬──────────────────┘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             ▼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┌─────────────────────────────────┐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│ For each launch, resolve IDs:   │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│  • GET /v4/rockets/{id}         │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│  • GET /v4/launchpads/{id}      │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│  • GET /v4/payloads/{id}        │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│  • GET /v4/cores/{id}           │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└──────────────┬──────────────────┘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             ▼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┌─────────────────────────────────┐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│ Build flat DataFrame (90 × 17)  │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│ Save → dataset_part_1.csv       │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└─────────────────────────────────┘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800" b="1">
                <a:solidFill>
                  <a:srgbClr val="1B2A4A"/>
                </a:solidFill>
                <a:latin typeface="Calibri"/>
              </a:defRPr>
            </a:pPr>
            <a:r>
              <a:t>Key Columns Extracted: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FlightNumber, Date, BoosterVersion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PayloadMass, Orbit, LaunchSite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Outcome (landing success + type)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Flights, GridFins, Reused, Legs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LandingPad, Block, ReusedCount, Serial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Longitude, Latitude</a:t>
            </a:r>
          </a:p>
          <a:p>
            <a:pPr algn="l">
              <a:spcBef>
                <a:spcPts val="400"/>
              </a:spcBef>
              <a:defRPr sz="8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800" b="1">
                <a:solidFill>
                  <a:srgbClr val="1B2A4A"/>
                </a:solidFill>
                <a:latin typeface="Calibri"/>
              </a:defRPr>
            </a:pPr>
            <a:r>
              <a:t>Outcome Column Format: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"True ASDS"   → successful drone ship landing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"True RTLS"   → successful ground pad landing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"False Ocean"  → failed ocean landing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"None None"    → no landing attempt</a:t>
            </a:r>
          </a:p>
          <a:p>
            <a:pPr algn="l">
              <a:spcBef>
                <a:spcPts val="400"/>
              </a:spcBef>
              <a:defRPr sz="8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400" b="1">
                <a:solidFill>
                  <a:srgbClr val="1B2A4A"/>
                </a:solidFill>
                <a:latin typeface="Calibri"/>
              </a:defRPr>
            </a:pPr>
            <a:r>
              <a:t>Tools: Python requests library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Output: data/dataset_part_1.csv (90 rows × 17 columns)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2E86C1"/>
                </a:solidFill>
                <a:latin typeface="Calibri"/>
              </a:defRPr>
            </a:pPr>
            <a:r>
              <a:t>Notebook: notebooks/01_spacex_api_collection.ipynb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6C1"/>
                </a:solidFill>
                <a:latin typeface="Calibri"/>
              </a:defRPr>
            </a:pPr>
            <a:r>
              <a:t>GitHub: https://github.com/RyanOrdonez/spacey-capstone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Data Collection Methodology — Web Scraping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500" b="1">
                <a:solidFill>
                  <a:srgbClr val="2E86C1"/>
                </a:solidFill>
                <a:latin typeface="Calibri"/>
              </a:defRPr>
            </a:pPr>
            <a:r>
              <a:t>Source: Wikipedia — List of Falcon 9 Launches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777777"/>
                </a:solidFill>
                <a:latin typeface="Calibri"/>
              </a:defRPr>
            </a:pPr>
            <a:r>
              <a:t>(Static HTML snapshot, June 9 2021)</a:t>
            </a:r>
          </a:p>
          <a:p>
            <a:pPr algn="l">
              <a:spcBef>
                <a:spcPts val="400"/>
              </a:spcBef>
              <a:defRPr sz="6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800" b="1">
                <a:solidFill>
                  <a:srgbClr val="1B2A4A"/>
                </a:solidFill>
                <a:latin typeface="Calibri"/>
              </a:defRPr>
            </a:pPr>
            <a:r>
              <a:t>Web Scraping Process (Flowchart):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┌──────────────────────────────────┐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│ requests.get(wikipedia_url)      │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│ (Fetch static HTML page)         │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└──────────────┬───────────────────┘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             ▼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┌──────────────────────────────────┐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│ BeautifulSoup(html, html.parser) │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│ Parse HTML structure             │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└──────────────┬───────────────────┘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             ▼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┌──────────────────────────────────┐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│ Find all &lt;table&gt; elements        │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│ Extract &lt;th&gt; headers → columns   │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└──────────────┬───────────────────┘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             ▼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┌──────────────────────────────────┐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│ Iterate &lt;tr&gt; rows, extract cells │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│ Helper funcs: date_time,         │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│ booster_version, landing_status,  │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│ get_mass                          │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└──────────────┬───────────────────┘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             ▼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┌──────────────────────────────────┐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│ Dict → Pandas DataFrame          │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│ Save → spacex_web_scraped.csv    │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└──────────────────────────────────┘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800" b="1">
                <a:solidFill>
                  <a:srgbClr val="1B2A4A"/>
                </a:solidFill>
                <a:latin typeface="Calibri"/>
              </a:defRPr>
            </a:pPr>
            <a:r>
              <a:t>Columns Scraped: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Flight No., Date, Time (UTC)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Version Booster, Launch site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Payload, Payload mass, Orbit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Customer, Launch outcome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Booster landing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800" b="1">
                <a:solidFill>
                  <a:srgbClr val="1B2A4A"/>
                </a:solidFill>
                <a:latin typeface="Calibri"/>
              </a:defRPr>
            </a:pPr>
            <a:r>
              <a:t>Helper Functions: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• date_time() — parse launch date/time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• booster_version() — extract booster info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• landing_status() — parse landing outcome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• get_mass() — extract numeric payload mass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• extract_column_from_header() — get headers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400" b="1">
                <a:solidFill>
                  <a:srgbClr val="1B2A4A"/>
                </a:solidFill>
                <a:latin typeface="Calibri"/>
              </a:defRPr>
            </a:pPr>
            <a:r>
              <a:t>Tools: requests, BeautifulSoup4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Output: data/spacex_web_scraped.csv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2E86C1"/>
                </a:solidFill>
                <a:latin typeface="Calibri"/>
              </a:defRPr>
            </a:pPr>
            <a:r>
              <a:t>Notebook: notebooks/02_web_scraping.ipynb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6C1"/>
                </a:solidFill>
                <a:latin typeface="Calibri"/>
              </a:defRPr>
            </a:pPr>
            <a:r>
              <a:t>GitHub: https://github.com/RyanOrdonez/spacey-capstone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Data Wrangling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2000" b="1">
                <a:solidFill>
                  <a:srgbClr val="1B2A4A"/>
                </a:solidFill>
                <a:latin typeface="Calibri"/>
              </a:defRPr>
            </a:pPr>
            <a:r>
              <a:t>Data Cleaning &amp; Processing Steps:</a:t>
            </a:r>
          </a:p>
          <a:p>
            <a:pPr algn="l">
              <a:spcBef>
                <a:spcPts val="400"/>
              </a:spcBef>
              <a:defRPr sz="6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Step 1: Load dataset_part_1.csv (90 rows × 17 cols)</a:t>
            </a:r>
          </a:p>
          <a:p>
            <a:pPr algn="l">
              <a:spcBef>
                <a:spcPts val="400"/>
              </a:spcBef>
              <a:defRPr sz="4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Step 2: Identify missing values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777777"/>
                </a:solidFill>
                <a:latin typeface="Calibri"/>
              </a:defRPr>
            </a:pPr>
            <a:r>
              <a:t>  • LandingPad: 28.9% missing (26 nulls)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777777"/>
                </a:solidFill>
                <a:latin typeface="Calibri"/>
              </a:defRPr>
            </a:pPr>
            <a:r>
              <a:t>  • PayloadMass: minor nulls → imputed with mean</a:t>
            </a:r>
          </a:p>
          <a:p>
            <a:pPr algn="l">
              <a:spcBef>
                <a:spcPts val="400"/>
              </a:spcBef>
              <a:defRPr sz="4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Step 3: Analyze launch frequency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777777"/>
                </a:solidFill>
                <a:latin typeface="Calibri"/>
              </a:defRPr>
            </a:pPr>
            <a:r>
              <a:t>  • Count launches per site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777777"/>
                </a:solidFill>
                <a:latin typeface="Calibri"/>
              </a:defRPr>
            </a:pPr>
            <a:r>
              <a:t>  • Count launches per orbit type</a:t>
            </a:r>
          </a:p>
          <a:p>
            <a:pPr algn="l">
              <a:spcBef>
                <a:spcPts val="400"/>
              </a:spcBef>
              <a:defRPr sz="4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Step 4: Analyze landing outcome categories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27AE60"/>
                </a:solidFill>
                <a:latin typeface="Calibri"/>
              </a:defRPr>
            </a:pPr>
            <a:r>
              <a:t>  • True ASDS, True RTLS → Success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E74C3C"/>
                </a:solidFill>
                <a:latin typeface="Calibri"/>
              </a:defRPr>
            </a:pPr>
            <a:r>
              <a:t>  • False Ocean, None None → Failure</a:t>
            </a:r>
          </a:p>
          <a:p>
            <a:pPr algn="l">
              <a:spcBef>
                <a:spcPts val="400"/>
              </a:spcBef>
              <a:defRPr sz="4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400" b="1">
                <a:solidFill>
                  <a:srgbClr val="333333"/>
                </a:solidFill>
                <a:latin typeface="Calibri"/>
              </a:defRPr>
            </a:pPr>
            <a:r>
              <a:t>Step 5: Engineer target variable — 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2000" b="1">
                <a:solidFill>
                  <a:srgbClr val="1B2A4A"/>
                </a:solidFill>
                <a:latin typeface="Calibri"/>
              </a:defRPr>
            </a:pPr>
            <a:r>
              <a:t>Target Variable: Class</a:t>
            </a:r>
          </a:p>
          <a:p>
            <a:pPr algn="l">
              <a:spcBef>
                <a:spcPts val="400"/>
              </a:spcBef>
              <a:defRPr sz="6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800" b="1">
                <a:solidFill>
                  <a:srgbClr val="27AE60"/>
                </a:solidFill>
                <a:latin typeface="Calibri"/>
              </a:defRPr>
            </a:pPr>
            <a:r>
              <a:t>Class = 1 (Successful Landing)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• Outcome starts with 'True'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• True ASDS, True RTLS, True Ocean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• Count: 60 launches (66.7%)</a:t>
            </a:r>
          </a:p>
          <a:p>
            <a:pPr algn="l">
              <a:spcBef>
                <a:spcPts val="400"/>
              </a:spcBef>
              <a:defRPr sz="8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800" b="1">
                <a:solidFill>
                  <a:srgbClr val="E74C3C"/>
                </a:solidFill>
                <a:latin typeface="Calibri"/>
              </a:defRPr>
            </a:pPr>
            <a:r>
              <a:t>Class = 0 (Failed / No Attempt)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• Outcome starts with 'False' or 'None'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• False ASDS, False Ocean, None None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• Count: 30 launches (33.3%)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400" b="1">
                <a:solidFill>
                  <a:srgbClr val="1B2A4A"/>
                </a:solidFill>
                <a:latin typeface="Calibri"/>
              </a:defRPr>
            </a:pPr>
            <a:r>
              <a:t>Output: data/dataset_part_2.csv (90 rows × 18 cols)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2E86C1"/>
                </a:solidFill>
                <a:latin typeface="Calibri"/>
              </a:defRPr>
            </a:pPr>
            <a:r>
              <a:t>Notebook: notebooks/03_data_wrangling.ipynb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6C1"/>
                </a:solidFill>
                <a:latin typeface="Calibri"/>
              </a:defRPr>
            </a:pPr>
            <a:r>
              <a:t>GitHub: https://github.com/RyanOrdonez/spacey-capstone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EDA with Data Visualization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2000" b="1">
                <a:solidFill>
                  <a:srgbClr val="1B2A4A"/>
                </a:solidFill>
                <a:latin typeface="Calibri"/>
              </a:defRPr>
            </a:pPr>
            <a:r>
              <a:t>Charts Created and Their Purpose:</a:t>
            </a:r>
          </a:p>
          <a:p>
            <a:pPr algn="l">
              <a:spcBef>
                <a:spcPts val="400"/>
              </a:spcBef>
              <a:defRPr sz="4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1. Flight Number vs Launch Site (scatter)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777777"/>
                </a:solidFill>
                <a:latin typeface="Calibri"/>
              </a:defRPr>
            </a:pPr>
            <a:r>
              <a:t>   → See which sites used over time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2. Flight Number vs Payload Mass (scatter)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777777"/>
                </a:solidFill>
                <a:latin typeface="Calibri"/>
              </a:defRPr>
            </a:pPr>
            <a:r>
              <a:t>   → Relationship between payload and success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3. Payload Mass vs Launch Site (scatter)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777777"/>
                </a:solidFill>
                <a:latin typeface="Calibri"/>
              </a:defRPr>
            </a:pPr>
            <a:r>
              <a:t>   → Payload capacity per site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4. Success Rate by Orbit Type (bar chart)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777777"/>
                </a:solidFill>
                <a:latin typeface="Calibri"/>
              </a:defRPr>
            </a:pPr>
            <a:r>
              <a:t>   → Which orbits have highest success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5. Flight Number vs Orbit Type (scatter)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777777"/>
                </a:solidFill>
                <a:latin typeface="Calibri"/>
              </a:defRPr>
            </a:pPr>
            <a:r>
              <a:t>   → Orbit selection evolution over time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6. Payload Mass vs Orbit Type (scatter)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777777"/>
                </a:solidFill>
                <a:latin typeface="Calibri"/>
              </a:defRPr>
            </a:pPr>
            <a:r>
              <a:t>   → Payload requirements per orbit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7. Success Rate by Launch Site (bar chart)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777777"/>
                </a:solidFill>
                <a:latin typeface="Calibri"/>
              </a:defRPr>
            </a:pPr>
            <a:r>
              <a:t>   → Compare site reliability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8. Yearly Success Trend (line chart)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777777"/>
                </a:solidFill>
                <a:latin typeface="Calibri"/>
              </a:defRPr>
            </a:pPr>
            <a:r>
              <a:t>   → Track improvement over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2000" b="1">
                <a:solidFill>
                  <a:srgbClr val="1B2A4A"/>
                </a:solidFill>
                <a:latin typeface="Calibri"/>
              </a:defRPr>
            </a:pPr>
            <a:r>
              <a:t>Feature Engineering:</a:t>
            </a:r>
          </a:p>
          <a:p>
            <a:pPr algn="l">
              <a:spcBef>
                <a:spcPts val="400"/>
              </a:spcBef>
              <a:defRPr sz="6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One-hot encoding of categorical columns: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777777"/>
                </a:solidFill>
                <a:latin typeface="Calibri"/>
              </a:defRPr>
            </a:pPr>
            <a:r>
              <a:t>  Orbit, LaunchSite, LandingPad, Serial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Cast all features to float64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Result: 90 rows × 83 feature columns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600" b="1">
                <a:solidFill>
                  <a:srgbClr val="1B2A4A"/>
                </a:solidFill>
                <a:latin typeface="Calibri"/>
              </a:defRPr>
            </a:pPr>
            <a:r>
              <a:t>Tools: Matplotlib, Seaborn</a:t>
            </a:r>
          </a:p>
          <a:p>
            <a:pPr algn="l">
              <a:spcBef>
                <a:spcPts val="400"/>
              </a:spcBef>
              <a:defRPr sz="6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600" b="1">
                <a:solidFill>
                  <a:srgbClr val="1B2A4A"/>
                </a:solidFill>
                <a:latin typeface="Calibri"/>
              </a:defRPr>
            </a:pPr>
            <a:r>
              <a:t>Output: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• 8 PNG charts saved to images/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• data/dataset_part_3.csv (engineered features)</a:t>
            </a:r>
          </a:p>
          <a:p>
            <a:pPr algn="l">
              <a:spcBef>
                <a:spcPts val="400"/>
              </a:spcBef>
              <a:defRPr sz="8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300" b="0">
                <a:solidFill>
                  <a:srgbClr val="2E86C1"/>
                </a:solidFill>
                <a:latin typeface="Calibri"/>
              </a:defRPr>
            </a:pPr>
            <a:r>
              <a:t>Notebook: notebooks/04_eda.ipynb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6C1"/>
                </a:solidFill>
                <a:latin typeface="Calibri"/>
              </a:defRPr>
            </a:pPr>
            <a:r>
              <a:t>GitHub: https://github.com/RyanOrdonez/spacey-capstone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EDA with SQL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2000" b="1">
                <a:solidFill>
                  <a:srgbClr val="1B2A4A"/>
                </a:solidFill>
                <a:latin typeface="Calibri"/>
              </a:defRPr>
            </a:pPr>
            <a:r>
              <a:t>SQL Queries Performed (10 queries in SQLite):</a:t>
            </a:r>
          </a:p>
          <a:p>
            <a:pPr algn="l">
              <a:spcBef>
                <a:spcPts val="400"/>
              </a:spcBef>
              <a:defRPr sz="4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Q1:  SELECT DISTINCT Launch_Site — unique launch sites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Q2:  SELECT * WHERE Launch_Site LIKE 'CCA%' LIMIT 5 — filter by site prefix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Q3:  SELECT SUM(PAYLOAD_MASS__KG_) WHERE Customer = 'NASA (CRS)' — total payload for customer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Q4:  SELECT AVG(PAYLOAD_MASS__KG_) WHERE Booster_Version LIKE 'F9 v1.1%' — avg payload for booster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Q5:  SELECT MIN(Date) WHERE Landing_Outcome = 'Success (ground pad)' — first ground pad landing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Q6:  SELECT Booster_Version WHERE Landing_Outcome = 'Success (drone ship)' AND PAYLOAD 4000-6000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Q7:  SELECT Mission_Outcome, COUNT(*) GROUP BY Mission_Outcome — mission outcome counts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Q8:  SELECT Booster_Version WHERE PAYLOAD_MASS = MAX — max payload boosters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Q9:  SELECT * WHERE Landing_Outcome = 'Failure (drone ship)' AND Date LIKE '2015%' — 2015 failures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Q10: SELECT Landing_Outcome, COUNT(*) WHERE Date BETWEEN 2010-2017 ORDER BY COUNT — rankings</a:t>
            </a:r>
          </a:p>
          <a:p>
            <a:pPr algn="l">
              <a:spcBef>
                <a:spcPts val="400"/>
              </a:spcBef>
              <a:defRPr sz="8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400" b="1">
                <a:solidFill>
                  <a:srgbClr val="1B2A4A"/>
                </a:solidFill>
                <a:latin typeface="Calibri"/>
              </a:defRPr>
            </a:pPr>
            <a:r>
              <a:t>Database: SQLite  |  Table: SPACEXTABLE  |  Loaded from dataset_part_2.csv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t>SQL script: sql/spacex_queries.sql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2E86C1"/>
                </a:solidFill>
                <a:latin typeface="Calibri"/>
              </a:defRPr>
            </a:pPr>
            <a:r>
              <a:t>Notebook: notebooks/05_sql_analysis.ipynb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6C1"/>
                </a:solidFill>
                <a:latin typeface="Calibri"/>
              </a:defRPr>
            </a:pPr>
            <a:r>
              <a:t>GitHub: https://github.com/RyanOrdonez/spacey-capstone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Interactive Visual Analytics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2000" b="1">
                <a:solidFill>
                  <a:srgbClr val="1B2A4A"/>
                </a:solidFill>
                <a:latin typeface="Calibri"/>
              </a:defRPr>
            </a:pPr>
            <a:r>
              <a:t>Folium Interactive Maps:</a:t>
            </a:r>
          </a:p>
          <a:p>
            <a:pPr algn="l">
              <a:spcBef>
                <a:spcPts val="400"/>
              </a:spcBef>
              <a:defRPr sz="4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600" b="1">
                <a:solidFill>
                  <a:srgbClr val="2E86C1"/>
                </a:solidFill>
                <a:latin typeface="Calibri"/>
              </a:defRPr>
            </a:pPr>
            <a:r>
              <a:t>Map 1: Launch Site Map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• Mark all 4 launch sites with circles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• Color-code markers: green=success, red=fail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• MarkerCluster for interactive exploration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• Popup labels with site name + class</a:t>
            </a:r>
          </a:p>
          <a:p>
            <a:pPr algn="l">
              <a:spcBef>
                <a:spcPts val="400"/>
              </a:spcBef>
              <a:defRPr sz="6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600" b="1">
                <a:solidFill>
                  <a:srgbClr val="2E86C1"/>
                </a:solidFill>
                <a:latin typeface="Calibri"/>
              </a:defRPr>
            </a:pPr>
            <a:r>
              <a:t>Map 2: KSC LC-39A Proximity Analysis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• Calculate distance to coastline (~1.2 km)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• Calculate distance to highway (~7.1 km)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• Calculate distance to railway (~5.7 km)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• Calculate distance to city (~52 km)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• Draw lines and markers on map</a:t>
            </a:r>
          </a:p>
          <a:p>
            <a:pPr algn="l">
              <a:spcBef>
                <a:spcPts val="400"/>
              </a:spcBef>
              <a:defRPr sz="6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t>Output: output/launch_site_map.html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t>Output: output/ksc_proximity_map.html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2E86C1"/>
                </a:solidFill>
                <a:latin typeface="Calibri"/>
              </a:defRPr>
            </a:pPr>
            <a:r>
              <a:t>Notebook: notebooks/06_interactive_visuals.ipynb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2000" b="1">
                <a:solidFill>
                  <a:srgbClr val="1B2A4A"/>
                </a:solidFill>
                <a:latin typeface="Calibri"/>
              </a:defRPr>
            </a:pPr>
            <a:r>
              <a:t>Plotly Dash Dashboard:</a:t>
            </a:r>
          </a:p>
          <a:p>
            <a:pPr algn="l">
              <a:spcBef>
                <a:spcPts val="400"/>
              </a:spcBef>
              <a:defRPr sz="4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600" b="1">
                <a:solidFill>
                  <a:srgbClr val="2E86C1"/>
                </a:solidFill>
                <a:latin typeface="Calibri"/>
              </a:defRPr>
            </a:pPr>
            <a:r>
              <a:t>Dashboard Components: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1. Dropdown: Select launch site (or All Sites)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2. Pie Chart: Success vs Failure for site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3. Range Slider: Filter by payload mass (0-10,000 kg)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4. Scatter Plot: Payload vs Outcome by Booster</a:t>
            </a:r>
          </a:p>
          <a:p>
            <a:pPr algn="l">
              <a:spcBef>
                <a:spcPts val="400"/>
              </a:spcBef>
              <a:defRPr sz="6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600" b="1">
                <a:solidFill>
                  <a:srgbClr val="2E86C1"/>
                </a:solidFill>
                <a:latin typeface="Calibri"/>
              </a:defRPr>
            </a:pPr>
            <a:r>
              <a:t>Implementation: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• Framework: Plotly Dash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• Two reactive @app.callback decorators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• Input: site dropdown + payload slider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• Output: pie chart + scatter chart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• Data: spacex_launch_dash.csv (IBM Cloud)</a:t>
            </a:r>
          </a:p>
          <a:p>
            <a:pPr algn="l">
              <a:spcBef>
                <a:spcPts val="400"/>
              </a:spcBef>
              <a:defRPr sz="6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400" b="1">
                <a:solidFill>
                  <a:srgbClr val="1B2A4A"/>
                </a:solidFill>
                <a:latin typeface="Calibri"/>
              </a:defRPr>
            </a:pPr>
            <a:r>
              <a:t>Run: python dash/spacex_dash_app.py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Open: http://localhost:8050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2E86C1"/>
                </a:solidFill>
                <a:latin typeface="Calibri"/>
              </a:defRPr>
            </a:pPr>
            <a:r>
              <a:t>Script: dash/spacex_dash_app.py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6C1"/>
                </a:solidFill>
                <a:latin typeface="Calibri"/>
              </a:defRPr>
            </a:pPr>
            <a:r>
              <a:t>GitHub: https://github.com/RyanOrdonez/spacey-capstone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Predictive Analysis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2000" b="1">
                <a:solidFill>
                  <a:srgbClr val="1B2A4A"/>
                </a:solidFill>
                <a:latin typeface="Calibri"/>
              </a:defRPr>
            </a:pPr>
            <a:r>
              <a:t>Data Preparation: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• Target Y from dataset_part_2.csv (Class column)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• Features X from dataset_part_3.csv (83 cols)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• StandardScaler normalization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• Train/Test split: 80/20 (random_state=2)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• Train: 72 samples  |  Test: 18 samples</a:t>
            </a:r>
          </a:p>
          <a:p>
            <a:pPr algn="l">
              <a:spcBef>
                <a:spcPts val="400"/>
              </a:spcBef>
              <a:defRPr sz="8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2000" b="1">
                <a:solidFill>
                  <a:srgbClr val="1B2A4A"/>
                </a:solidFill>
                <a:latin typeface="Calibri"/>
              </a:defRPr>
            </a:pPr>
            <a:r>
              <a:t>Models Trained: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  1. Logistic Regression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777777"/>
                </a:solidFill>
                <a:latin typeface="Calibri"/>
              </a:defRPr>
            </a:pPr>
            <a:r>
              <a:t>     C: [0.01, 0.1, 1], penalty: l2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  2. Support Vector Machine (SVM)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777777"/>
                </a:solidFill>
                <a:latin typeface="Calibri"/>
              </a:defRPr>
            </a:pPr>
            <a:r>
              <a:t>     kernel: [linear, rbf, poly, sigmoid]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777777"/>
                </a:solidFill>
                <a:latin typeface="Calibri"/>
              </a:defRPr>
            </a:pPr>
            <a:r>
              <a:t>     C: logspace(-3,3,5), gamma: logspace(-3,3,5)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  3. Decision Tree Classifier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777777"/>
                </a:solidFill>
                <a:latin typeface="Calibri"/>
              </a:defRPr>
            </a:pPr>
            <a:r>
              <a:t>     criterion: [gini, entropy], max_depth: [2-18]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  4. K-Nearest Neighbors (KNN)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777777"/>
                </a:solidFill>
                <a:latin typeface="Calibri"/>
              </a:defRPr>
            </a:pPr>
            <a:r>
              <a:t>     n_neighbors: [1-10], p: [1,2]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2000" b="1">
                <a:solidFill>
                  <a:srgbClr val="1B2A4A"/>
                </a:solidFill>
                <a:latin typeface="Calibri"/>
              </a:defRPr>
            </a:pPr>
            <a:r>
              <a:t>Hyperparameter Tuning: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  • GridSearchCV with cv=10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  • Exhaustive search over parameter grids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  • Best params selected by CV accuracy</a:t>
            </a:r>
          </a:p>
          <a:p>
            <a:pPr algn="l">
              <a:spcBef>
                <a:spcPts val="400"/>
              </a:spcBef>
              <a:defRPr sz="8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2000" b="1">
                <a:solidFill>
                  <a:srgbClr val="1B2A4A"/>
                </a:solidFill>
                <a:latin typeface="Calibri"/>
              </a:defRPr>
            </a:pPr>
            <a:r>
              <a:t>Evaluation Metrics: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  • Cross-validation accuracy (10-fold)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  • Test set accuracy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  • Confusion matrix (True/False Pos/Neg)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  • Side-by-side model comparison bar chart</a:t>
            </a:r>
          </a:p>
          <a:p>
            <a:pPr algn="l">
              <a:spcBef>
                <a:spcPts val="400"/>
              </a:spcBef>
              <a:defRPr sz="8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600" b="1">
                <a:solidFill>
                  <a:srgbClr val="1B2A4A"/>
                </a:solidFill>
                <a:latin typeface="Calibri"/>
              </a:defRPr>
            </a:pPr>
            <a:r>
              <a:t>Tools: scikit-learn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GridSearchCV, StandardScaler,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confusion_matrix, accuracy_score</a:t>
            </a:r>
          </a:p>
          <a:p>
            <a:pPr algn="l">
              <a:spcBef>
                <a:spcPts val="400"/>
              </a:spcBef>
              <a:defRPr sz="6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300" b="0">
                <a:solidFill>
                  <a:srgbClr val="2E86C1"/>
                </a:solidFill>
                <a:latin typeface="Calibri"/>
              </a:defRPr>
            </a:pPr>
            <a:r>
              <a:t>Notebook: notebooks/07_modeling.ipynb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6C1"/>
                </a:solidFill>
                <a:latin typeface="Calibri"/>
              </a:defRPr>
            </a:pPr>
            <a:r>
              <a:t>GitHub: https://github.com/RyanOrdonez/spacey-capstone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EDA Results — Flight Number vs Payload Mass (Scatter Plot)</a:t>
            </a:r>
          </a:p>
        </p:txBody>
      </p:sp>
      <p:pic>
        <p:nvPicPr>
          <p:cNvPr id="4" name="Picture 3" descr="eda_flightnumber_vs_payloadm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41832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7777"/>
                </a:solidFill>
                <a:latin typeface="Calibri"/>
              </a:defRPr>
            </a:pPr>
            <a:r>
              <a:t>Higher flight numbers correlate with more successful landings. Payload mass alone does not determine landing outcome.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6C1"/>
                </a:solidFill>
                <a:latin typeface="Calibri"/>
              </a:defRPr>
            </a:pPr>
            <a:r>
              <a:t>GitHub: https://github.com/RyanOrdonez/spacey-capstone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EDA Results — Flight Number vs Launch Site (Scatter Plot)</a:t>
            </a:r>
          </a:p>
        </p:txBody>
      </p:sp>
      <p:pic>
        <p:nvPicPr>
          <p:cNvPr id="4" name="Picture 3" descr="eda_flightnumber_vs_launch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41832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7777"/>
                </a:solidFill>
                <a:latin typeface="Calibri"/>
              </a:defRPr>
            </a:pPr>
            <a:r>
              <a:t>KSC LC-39A has the most launches and highest success concentration at higher flight numbers. VAFB SLC-4E used mainly for polar orbits.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6C1"/>
                </a:solidFill>
                <a:latin typeface="Calibri"/>
              </a:defRPr>
            </a:pPr>
            <a:r>
              <a:t>GitHub: https://github.com/RyanOrdonez/spacey-capstone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EDA Results — Payload Mass vs Launch Site (Scatter Plot)</a:t>
            </a:r>
          </a:p>
        </p:txBody>
      </p:sp>
      <p:pic>
        <p:nvPicPr>
          <p:cNvPr id="4" name="Picture 3" descr="eda_payloadmass_vs_launch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41832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7777"/>
                </a:solidFill>
                <a:latin typeface="Calibri"/>
              </a:defRPr>
            </a:pPr>
            <a:r>
              <a:t>KSC LC-39A handles the heaviest payloads (up to 15,600 kg). All sites show successful launches across payload ranges.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6C1"/>
                </a:solidFill>
                <a:latin typeface="Calibri"/>
              </a:defRPr>
            </a:pPr>
            <a:r>
              <a:t>GitHub: https://github.com/RyanOrdonez/spacey-capstone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EDA Results — Flight Number vs Orbit Type (Scatter Plot)</a:t>
            </a:r>
          </a:p>
        </p:txBody>
      </p:sp>
      <p:pic>
        <p:nvPicPr>
          <p:cNvPr id="4" name="Picture 3" descr="eda_flightnumber_vs_orb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41832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7777"/>
                </a:solidFill>
                <a:latin typeface="Calibri"/>
              </a:defRPr>
            </a:pPr>
            <a:r>
              <a:t>LEO and ISS are the most common orbits in early flights. GTO missions appear throughout the timeline.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6C1"/>
                </a:solidFill>
                <a:latin typeface="Calibri"/>
              </a:defRPr>
            </a:pPr>
            <a:r>
              <a:t>GitHub: https://github.com/RyanOrdonez/spacey-capstone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EDA Results — Payload Mass vs Orbit Type (Scatter Plot)</a:t>
            </a:r>
          </a:p>
        </p:txBody>
      </p:sp>
      <p:pic>
        <p:nvPicPr>
          <p:cNvPr id="4" name="Picture 3" descr="eda_payloadmass_vs_orb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41832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7777"/>
                </a:solidFill>
                <a:latin typeface="Calibri"/>
              </a:defRPr>
            </a:pPr>
            <a:r>
              <a:t>GTO and GEO orbits typically require higher payload masses. LEO/ISS orbits show wider payload mass ranges.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6C1"/>
                </a:solidFill>
                <a:latin typeface="Calibri"/>
              </a:defRPr>
            </a:pPr>
            <a:r>
              <a:t>GitHub: https://github.com/RyanOrdonez/spacey-capstone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EDA Results — Success Rate by Orbit Type (Bar Chart)</a:t>
            </a:r>
          </a:p>
        </p:txBody>
      </p:sp>
      <p:pic>
        <p:nvPicPr>
          <p:cNvPr id="4" name="Picture 3" descr="eda_success_rate_by_orb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41832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7777"/>
                </a:solidFill>
                <a:latin typeface="Calibri"/>
              </a:defRPr>
            </a:pPr>
            <a:r>
              <a:t>ES-L1, GEO, HEO, and SSO orbits show 100% landing success. GTO has mixed results due to higher energy requirements.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6C1"/>
                </a:solidFill>
                <a:latin typeface="Calibri"/>
              </a:defRPr>
            </a:pPr>
            <a:r>
              <a:t>GitHub: https://github.com/RyanOrdonez/spacey-capstone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EDA Results — Success Rate by Launch Site (Bar Chart)</a:t>
            </a:r>
          </a:p>
        </p:txBody>
      </p:sp>
      <p:pic>
        <p:nvPicPr>
          <p:cNvPr id="4" name="Picture 3" descr="eda_success_rate_by_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41832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7777"/>
                </a:solidFill>
                <a:latin typeface="Calibri"/>
              </a:defRPr>
            </a:pPr>
            <a:r>
              <a:t>KSC LC-39A leads with the highest success rate. All sites show improvement over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6C1"/>
                </a:solidFill>
                <a:latin typeface="Calibri"/>
              </a:defRPr>
            </a:pPr>
            <a:r>
              <a:t>GitHub: https://github.com/RyanOrdonez/spacey-capstone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EDA Results — Yearly Success Trend (Line Chart)</a:t>
            </a:r>
          </a:p>
        </p:txBody>
      </p:sp>
      <p:pic>
        <p:nvPicPr>
          <p:cNvPr id="4" name="Picture 3" descr="eda_yearly_success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41832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7777"/>
                </a:solidFill>
                <a:latin typeface="Calibri"/>
              </a:defRPr>
            </a:pPr>
            <a:r>
              <a:t>Success rate improved from 0% in 2010 to over 80% by 2019–2020, demonstrating SpaceX's engineering learning curve.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6C1"/>
                </a:solidFill>
                <a:latin typeface="Calibri"/>
              </a:defRPr>
            </a:pPr>
            <a:r>
              <a:t>GitHub: https://github.com/RyanOrdonez/spacey-capstone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EDA with SQL Results — Launch Sites, Payloads, Success 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600" b="1">
                <a:solidFill>
                  <a:srgbClr val="1B2A4A"/>
                </a:solidFill>
                <a:latin typeface="Calibri"/>
              </a:defRPr>
            </a:pPr>
            <a:r>
              <a:t>Q1: Unique Launch Sites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CCAFS LC-40, CCAFS SLC-40, KSC LC-39A, VAFB SLC-4E</a:t>
            </a:r>
          </a:p>
          <a:p>
            <a:pPr algn="l">
              <a:spcBef>
                <a:spcPts val="400"/>
              </a:spcBef>
              <a:defRPr sz="4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600" b="1">
                <a:solidFill>
                  <a:srgbClr val="1B2A4A"/>
                </a:solidFill>
                <a:latin typeface="Calibri"/>
              </a:defRPr>
            </a:pPr>
            <a:r>
              <a:t>Q2: Records with Launch Site LIKE 'CCA%'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Cape Canaveral sites returned (5 sample rows)</a:t>
            </a:r>
          </a:p>
          <a:p>
            <a:pPr algn="l">
              <a:spcBef>
                <a:spcPts val="400"/>
              </a:spcBef>
              <a:defRPr sz="4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600" b="1">
                <a:solidFill>
                  <a:srgbClr val="1B2A4A"/>
                </a:solidFill>
                <a:latin typeface="Calibri"/>
              </a:defRPr>
            </a:pPr>
            <a:r>
              <a:t>Q3: NASA (CRS) Total Payload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Total: 45,596 kg across all CRS missions</a:t>
            </a:r>
          </a:p>
          <a:p>
            <a:pPr algn="l">
              <a:spcBef>
                <a:spcPts val="400"/>
              </a:spcBef>
              <a:defRPr sz="4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600" b="1">
                <a:solidFill>
                  <a:srgbClr val="1B2A4A"/>
                </a:solidFill>
                <a:latin typeface="Calibri"/>
              </a:defRPr>
            </a:pPr>
            <a:r>
              <a:t>Q4: F9 v1.1 Average Payload Mass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Average: 2,928.4 kg</a:t>
            </a:r>
          </a:p>
          <a:p>
            <a:pPr algn="l">
              <a:spcBef>
                <a:spcPts val="400"/>
              </a:spcBef>
              <a:defRPr sz="4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600" b="1">
                <a:solidFill>
                  <a:srgbClr val="1B2A4A"/>
                </a:solidFill>
                <a:latin typeface="Calibri"/>
              </a:defRPr>
            </a:pPr>
            <a:r>
              <a:t>Q5: First Successful Ground Pad Landing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Date: 2015-12-22 (Orbcomm-OG2 mission)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600" b="1">
                <a:solidFill>
                  <a:srgbClr val="1B2A4A"/>
                </a:solidFill>
                <a:latin typeface="Calibri"/>
              </a:defRPr>
            </a:pPr>
            <a:r>
              <a:t>Q6: Drone Ship Success (4000-6000 kg)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F9 FT B1021.2, F9 FT B1031.2</a:t>
            </a:r>
          </a:p>
          <a:p>
            <a:pPr algn="l">
              <a:spcBef>
                <a:spcPts val="400"/>
              </a:spcBef>
              <a:defRPr sz="4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600" b="1">
                <a:solidFill>
                  <a:srgbClr val="1B2A4A"/>
                </a:solidFill>
                <a:latin typeface="Calibri"/>
              </a:defRPr>
            </a:pPr>
            <a:r>
              <a:t>Q7: Mission Outcome Counts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Success: 98  |  Failure: 1  |  Partial: 1</a:t>
            </a:r>
          </a:p>
          <a:p>
            <a:pPr algn="l">
              <a:spcBef>
                <a:spcPts val="400"/>
              </a:spcBef>
              <a:defRPr sz="4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600" b="1">
                <a:solidFill>
                  <a:srgbClr val="1B2A4A"/>
                </a:solidFill>
                <a:latin typeface="Calibri"/>
              </a:defRPr>
            </a:pPr>
            <a:r>
              <a:t>Q8: Max Payload Boosters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F9 B5 series (Block 5 — latest generation)</a:t>
            </a:r>
          </a:p>
          <a:p>
            <a:pPr algn="l">
              <a:spcBef>
                <a:spcPts val="400"/>
              </a:spcBef>
              <a:defRPr sz="4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600" b="1">
                <a:solidFill>
                  <a:srgbClr val="1B2A4A"/>
                </a:solidFill>
                <a:latin typeface="Calibri"/>
              </a:defRPr>
            </a:pPr>
            <a:r>
              <a:t>Q9: 2015 Drone Ship Failures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Jan 2015 (CRS-5) and Apr 2015 (CRS-6)</a:t>
            </a:r>
          </a:p>
          <a:p>
            <a:pPr algn="l">
              <a:spcBef>
                <a:spcPts val="400"/>
              </a:spcBef>
              <a:defRPr sz="4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600" b="1">
                <a:solidFill>
                  <a:srgbClr val="1B2A4A"/>
                </a:solidFill>
                <a:latin typeface="Calibri"/>
              </a:defRPr>
            </a:pPr>
            <a:r>
              <a:t>Q10: Landing Outcome Rankings (2010–2017)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No Attempt: 21 | Failure (drone ship): 9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Success (drone ship): 5 | Failure (ASDS): 2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Success (ground pad): 3 | Controlled (ocean):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6C1"/>
                </a:solidFill>
                <a:latin typeface="Calibri"/>
              </a:defRPr>
            </a:pPr>
            <a:r>
              <a:t>GitHub: https://github.com/RyanOrdonez/spacey-capstone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EDA with SQL Results — Time Analysis &amp; Rankings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2000" b="1">
                <a:solidFill>
                  <a:srgbClr val="1B2A4A"/>
                </a:solidFill>
                <a:latin typeface="Calibri"/>
              </a:defRPr>
            </a:pPr>
            <a:r>
              <a:t>Key Time-Based Insights from SQL Analysis:</a:t>
            </a:r>
          </a:p>
          <a:p>
            <a:pPr algn="l">
              <a:spcBef>
                <a:spcPts val="400"/>
              </a:spcBef>
              <a:defRPr sz="6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First successful ground pad landing: December 22, 2015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777777"/>
                </a:solidFill>
                <a:latin typeface="Calibri"/>
              </a:defRPr>
            </a:pPr>
            <a:r>
              <a:t>  This was the Orbcomm-OG2 mission from CCAFS LC-40 — a milestone in reusability.</a:t>
            </a:r>
          </a:p>
          <a:p>
            <a:pPr algn="l">
              <a:spcBef>
                <a:spcPts val="400"/>
              </a:spcBef>
              <a:defRPr sz="4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First successful drone ship landing: April 8, 2016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777777"/>
                </a:solidFill>
                <a:latin typeface="Calibri"/>
              </a:defRPr>
            </a:pPr>
            <a:r>
              <a:t>  CRS-8 mission — opened up recovery for high-energy GTO launches.</a:t>
            </a:r>
          </a:p>
          <a:p>
            <a:pPr algn="l">
              <a:spcBef>
                <a:spcPts val="400"/>
              </a:spcBef>
              <a:defRPr sz="4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2015 was the turning point: First landing successes after years of failed attempts.</a:t>
            </a:r>
          </a:p>
          <a:p>
            <a:pPr algn="l">
              <a:spcBef>
                <a:spcPts val="400"/>
              </a:spcBef>
              <a:defRPr sz="4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By 2017: Success rate exceeded 50% for the first time.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777777"/>
                </a:solidFill>
                <a:latin typeface="Calibri"/>
              </a:defRPr>
            </a:pPr>
            <a:r>
              <a:t>  Landing outcome distribution (2010–2017):</a:t>
            </a:r>
          </a:p>
          <a:p>
            <a:pPr algn="l">
              <a:spcBef>
                <a:spcPts val="400"/>
              </a:spcBef>
              <a:defRPr sz="4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┌──────────────────────────┬───────┐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│ Landing Outcome          │ Count │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├──────────────────────────┼───────┤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│ No Attempt               │  21   │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│ Failure (drone ship)     │   9   │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│ Controlled (ocean)       │   5   │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│ Success (drone ship)     │   5   │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│ Success (ground pad)     │   3   │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│ Failure (ADS)            │   2   │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│ Uncontrolled (ocean)     │   2   │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└──────────────────────────┴───────┘</a:t>
            </a:r>
          </a:p>
          <a:p>
            <a:pPr algn="l">
              <a:spcBef>
                <a:spcPts val="400"/>
              </a:spcBef>
              <a:defRPr sz="6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By 2020: Landing success rate exceeded 80%, with Block 5 boosters being the most reliable.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6C1"/>
                </a:solidFill>
                <a:latin typeface="Calibri"/>
              </a:defRPr>
            </a:pPr>
            <a:r>
              <a:t>GitHub: https://github.com/RyanOrdonez/spacey-capstone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Folium Map Results — Launch Site Markers &amp; Launch Records</a:t>
            </a:r>
          </a:p>
        </p:txBody>
      </p:sp>
      <p:pic>
        <p:nvPicPr>
          <p:cNvPr id="4" name="Picture 3" descr="folium_launch_sites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41832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7777"/>
                </a:solidFill>
                <a:latin typeface="Calibri"/>
              </a:defRPr>
            </a:pPr>
            <a:r>
              <a:t>All 4 SpaceX launch sites mapped with success/failure counts. Interactive version: output/launch_site_map.html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6C1"/>
                </a:solidFill>
                <a:latin typeface="Calibri"/>
              </a:defRPr>
            </a:pPr>
            <a:r>
              <a:t>GitHub: https://github.com/RyanOrdonez/spacey-capstone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Folium Map Results — KSC LC-39A Proximity Analysis</a:t>
            </a:r>
          </a:p>
        </p:txBody>
      </p:sp>
      <p:pic>
        <p:nvPicPr>
          <p:cNvPr id="4" name="Picture 3" descr="folium_ksc_proxim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41832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7777"/>
                </a:solidFill>
                <a:latin typeface="Calibri"/>
              </a:defRPr>
            </a:pPr>
            <a:r>
              <a:t>KSC LC-39A is ~1.2 km from coast, ~7.1 km from highway, ~5.7 km from railway, ~52 km from nearest city. Interactive: output/ksc_proximity_map.html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6C1"/>
                </a:solidFill>
                <a:latin typeface="Calibri"/>
              </a:defRPr>
            </a:pPr>
            <a:r>
              <a:t>GitHub: https://github.com/RyanOrdonez/spacey-capstone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Folium Map Results — Success vs Failure by Launch Site</a:t>
            </a:r>
          </a:p>
        </p:txBody>
      </p:sp>
      <p:pic>
        <p:nvPicPr>
          <p:cNvPr id="4" name="Picture 3" descr="folium_site_success_fail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41832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7777"/>
                </a:solidFill>
                <a:latin typeface="Calibri"/>
              </a:defRPr>
            </a:pPr>
            <a:r>
              <a:t>Success/failure breakdown per site. All sites are coastal for safety. KSC LC-39A has the most launches and highest success count.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6C1"/>
                </a:solidFill>
                <a:latin typeface="Calibri"/>
              </a:defRPr>
            </a:pPr>
            <a:r>
              <a:t>GitHub: https://github.com/RyanOrdonez/spacey-capstone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Plotly Dash Results — Success Pie Chart (All Sites)</a:t>
            </a:r>
          </a:p>
        </p:txBody>
      </p:sp>
      <p:pic>
        <p:nvPicPr>
          <p:cNvPr id="4" name="Picture 3" descr="dash_pie_all_si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41832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7777"/>
                </a:solidFill>
                <a:latin typeface="Calibri"/>
              </a:defRPr>
            </a:pPr>
            <a:r>
              <a:t>Pie chart showing total successful launches distributed across all sites. KSC LC-39A contributes the most successes.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6C1"/>
                </a:solidFill>
                <a:latin typeface="Calibri"/>
              </a:defRPr>
            </a:pPr>
            <a:r>
              <a:t>GitHub: https://github.com/RyanOrdonez/spacey-capstone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Plotly Dash Results — Success vs Failure Pie Chart (KSC LC-39A)</a:t>
            </a:r>
          </a:p>
        </p:txBody>
      </p:sp>
      <p:pic>
        <p:nvPicPr>
          <p:cNvPr id="4" name="Picture 3" descr="dash_pie_ks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41832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7777"/>
                </a:solidFill>
                <a:latin typeface="Calibri"/>
              </a:defRPr>
            </a:pPr>
            <a:r>
              <a:t>KSC LC-39A: 77% success rate — the most reliable launch site in the dataset.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6C1"/>
                </a:solidFill>
                <a:latin typeface="Calibri"/>
              </a:defRPr>
            </a:pPr>
            <a:r>
              <a:t>GitHub: https://github.com/RyanOrdonez/spacey-capstone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Plotly Dash Results — Payload vs Outcome Scatter (All Sites)</a:t>
            </a:r>
          </a:p>
        </p:txBody>
      </p:sp>
      <p:pic>
        <p:nvPicPr>
          <p:cNvPr id="4" name="Picture 3" descr="dash_scatter_all_si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41832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7777"/>
                </a:solidFill>
                <a:latin typeface="Calibri"/>
              </a:defRPr>
            </a:pPr>
            <a:r>
              <a:t>Scatter plot of Payload Mass vs Launch Outcome colored by Booster Version. FT and B5 boosters show higher success across payload ranges.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6C1"/>
                </a:solidFill>
                <a:latin typeface="Calibri"/>
              </a:defRPr>
            </a:pPr>
            <a:r>
              <a:t>GitHub: https://github.com/RyanOrdonez/spacey-capstone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Plotly Dash Results — Payload vs Outcome Scatter (KSC LC-39A)</a:t>
            </a:r>
          </a:p>
        </p:txBody>
      </p:sp>
      <p:pic>
        <p:nvPicPr>
          <p:cNvPr id="4" name="Picture 3" descr="dash_scatter_ks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41832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7777"/>
                </a:solidFill>
                <a:latin typeface="Calibri"/>
              </a:defRPr>
            </a:pPr>
            <a:r>
              <a:t>KSC LC-39A: Successful launches across all payload ranges. B5 boosters dominate recent successful missions.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6C1"/>
                </a:solidFill>
                <a:latin typeface="Calibri"/>
              </a:defRPr>
            </a:pPr>
            <a:r>
              <a:t>GitHub: https://github.com/RyanOrdonez/spacey-capstone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Predictive Analysis Results — Logistic Regression Confusion Matrix</a:t>
            </a:r>
          </a:p>
        </p:txBody>
      </p:sp>
      <p:pic>
        <p:nvPicPr>
          <p:cNvPr id="4" name="Picture 3" descr="cm_logistic_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41832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7777"/>
                </a:solidFill>
                <a:latin typeface="Calibri"/>
              </a:defRPr>
            </a:pPr>
            <a:r>
              <a:t>Best params: C=0.01, penalty=l2, solver=lbfgs  |  CV Score: 84.64%  |  Test Accuracy: 83.33%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6C1"/>
                </a:solidFill>
                <a:latin typeface="Calibri"/>
              </a:defRPr>
            </a:pPr>
            <a:r>
              <a:t>GitHub: https://github.com/RyanOrdonez/spacey-capstone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Predictive Analysis Results — SVM Confusion Matrix</a:t>
            </a:r>
          </a:p>
        </p:txBody>
      </p:sp>
      <p:pic>
        <p:nvPicPr>
          <p:cNvPr id="4" name="Picture 3" descr="cm_sv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41832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7777"/>
                </a:solidFill>
                <a:latin typeface="Calibri"/>
              </a:defRPr>
            </a:pPr>
            <a:r>
              <a:t>Best params: kernel=sigmoid, C=1.0, gamma=0.032  |  CV Score: 84.82%  |  Test Accuracy: 83.33%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6C1"/>
                </a:solidFill>
                <a:latin typeface="Calibri"/>
              </a:defRPr>
            </a:pPr>
            <a:r>
              <a:t>GitHub: https://github.com/RyanOrdonez/spacey-capstone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Predictive Analysis Results — Decision Tree Confusion Matrix</a:t>
            </a:r>
          </a:p>
        </p:txBody>
      </p:sp>
      <p:pic>
        <p:nvPicPr>
          <p:cNvPr id="4" name="Picture 3" descr="cm_decision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41832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7777"/>
                </a:solidFill>
                <a:latin typeface="Calibri"/>
              </a:defRPr>
            </a:pPr>
            <a:r>
              <a:t>Best params: criterion=entropy, max_depth=14, splitter=random  |  CV Score: 88.75%  |  Test Accuracy: 83.33%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6C1"/>
                </a:solidFill>
                <a:latin typeface="Calibri"/>
              </a:defRPr>
            </a:pPr>
            <a:r>
              <a:t>GitHub: https://github.com/RyanOrdonez/spacey-capstone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Predictive Analysis Results — KNN Confusion Matrix</a:t>
            </a:r>
          </a:p>
        </p:txBody>
      </p:sp>
      <p:pic>
        <p:nvPicPr>
          <p:cNvPr id="4" name="Picture 3" descr="cm_k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41832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7777"/>
                </a:solidFill>
                <a:latin typeface="Calibri"/>
              </a:defRPr>
            </a:pPr>
            <a:r>
              <a:t>Best params: n_neighbors=10, algorithm=auto, p=1  |  CV Score: 84.82%  |  Test Accuracy: 83.33%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6C1"/>
                </a:solidFill>
                <a:latin typeface="Calibri"/>
              </a:defRPr>
            </a:pPr>
            <a:r>
              <a:t>GitHub: https://github.com/RyanOrdonez/spacey-capstone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Predictive Analysis Results — Model Comparison</a:t>
            </a:r>
          </a:p>
        </p:txBody>
      </p:sp>
      <p:pic>
        <p:nvPicPr>
          <p:cNvPr id="4" name="Picture 3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41832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7777"/>
                </a:solidFill>
                <a:latin typeface="Calibri"/>
              </a:defRPr>
            </a:pPr>
            <a:r>
              <a:t>All 4 models achieve 83.33% test accuracy. Decision Tree has the highest CV score (88.75%) and is recommended as the best 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6C1"/>
                </a:solidFill>
                <a:latin typeface="Calibri"/>
              </a:defRPr>
            </a:pPr>
            <a:r>
              <a:t>GitHub: https://github.com/RyanOrdonez/spacey-capstone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Predictive Analysis Results — Best Model &amp;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2000" b="1">
                <a:solidFill>
                  <a:srgbClr val="1B2A4A"/>
                </a:solidFill>
                <a:latin typeface="Calibri"/>
              </a:defRPr>
            </a:pPr>
            <a:r>
              <a:t>Model Comparison Summary:</a:t>
            </a:r>
          </a:p>
          <a:p>
            <a:pPr algn="l">
              <a:spcBef>
                <a:spcPts val="400"/>
              </a:spcBef>
              <a:defRPr sz="4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t>┌─────────────────────┬──────────┬──────────┐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t>│ Model               │ CV Score │ Test Acc │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t>├─────────────────────┼──────────┼──────────┤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t>│ Logistic Regression │  84.64%  │  83.33%  │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t>│ SVM                 │  84.82%  │  83.33%  │</a:t>
            </a:r>
          </a:p>
          <a:p>
            <a:pPr algn="l">
              <a:spcBef>
                <a:spcPts val="400"/>
              </a:spcBef>
              <a:defRPr sz="1300" b="1">
                <a:solidFill>
                  <a:srgbClr val="27AE60"/>
                </a:solidFill>
                <a:latin typeface="Calibri"/>
              </a:defRPr>
            </a:pPr>
            <a:r>
              <a:t>│ Decision Tree       │  88.75%  │  83.33%  │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t>│ KNN                 │  84.82%  │  83.33%  │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t>└─────────────────────┴──────────┴──────────┘</a:t>
            </a:r>
          </a:p>
          <a:p>
            <a:pPr algn="l">
              <a:spcBef>
                <a:spcPts val="400"/>
              </a:spcBef>
              <a:defRPr sz="6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2000" b="1">
                <a:solidFill>
                  <a:srgbClr val="27AE60"/>
                </a:solidFill>
                <a:latin typeface="Calibri"/>
              </a:defRPr>
            </a:pPr>
            <a:r>
              <a:t>Best Model: Decision Tree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  • Highest cross-validation score (88.75%)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  • Best params: criterion=entropy, max_depth=14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  • Easily interpretable (feature importance)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  • All models tied on test accuracy (83.33%)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  • Small test set (18 samples) limits differentiation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2000" b="1">
                <a:solidFill>
                  <a:srgbClr val="1B2A4A"/>
                </a:solidFill>
                <a:latin typeface="Calibri"/>
              </a:defRPr>
            </a:pPr>
            <a:r>
              <a:t>Key Evaluation Insights:</a:t>
            </a:r>
          </a:p>
          <a:p>
            <a:pPr algn="l">
              <a:spcBef>
                <a:spcPts val="400"/>
              </a:spcBef>
              <a:defRPr sz="4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Confusion matrices show most errors are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  false negatives (predicting failure when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  actual outcome was success)</a:t>
            </a:r>
          </a:p>
          <a:p>
            <a:pPr algn="l">
              <a:spcBef>
                <a:spcPts val="400"/>
              </a:spcBef>
              <a:defRPr sz="4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This is the safer error type for SpaceY: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  overestimating cost is better than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  underestimating it</a:t>
            </a:r>
          </a:p>
          <a:p>
            <a:pPr algn="l">
              <a:spcBef>
                <a:spcPts val="400"/>
              </a:spcBef>
              <a:defRPr sz="6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800" b="1">
                <a:solidFill>
                  <a:srgbClr val="1B2A4A"/>
                </a:solidFill>
                <a:latin typeface="Calibri"/>
              </a:defRPr>
            </a:pPr>
            <a:r>
              <a:t>Recommendations: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  • Use Decision Tree as primary predictor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  • Ensemble methods (Random Forest, XGBoost)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    could improve accuracy further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  • Collect more data as SpaceX launches grow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  • Feature importance analysis reveals Flight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    Number and GridFins as top predictors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6C1"/>
                </a:solidFill>
                <a:latin typeface="Calibri"/>
              </a:defRPr>
            </a:pPr>
            <a:r>
              <a:t>GitHub: https://github.com/RyanOrdonez/spacey-capstone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2000" b="1">
                <a:solidFill>
                  <a:srgbClr val="1B2A4A"/>
                </a:solidFill>
                <a:latin typeface="Calibri"/>
              </a:defRPr>
            </a:pPr>
            <a:r>
              <a:t>Findings Summary:</a:t>
            </a:r>
          </a:p>
          <a:p>
            <a:pPr algn="l">
              <a:spcBef>
                <a:spcPts val="400"/>
              </a:spcBef>
              <a:defRPr sz="4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1. SpaceX landing success has improved dramatically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777777"/>
                </a:solidFill>
                <a:latin typeface="Calibri"/>
              </a:defRPr>
            </a:pPr>
            <a:r>
              <a:t>   from 0% (2010) to &gt;80% (2020), driven by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777777"/>
                </a:solidFill>
                <a:latin typeface="Calibri"/>
              </a:defRPr>
            </a:pPr>
            <a:r>
              <a:t>   engineering iteration and Block 5 boosters.</a:t>
            </a:r>
          </a:p>
          <a:p>
            <a:pPr algn="l">
              <a:spcBef>
                <a:spcPts val="400"/>
              </a:spcBef>
              <a:defRPr sz="4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2. Launch site matters: KSC LC-39A consistently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777777"/>
                </a:solidFill>
                <a:latin typeface="Calibri"/>
              </a:defRPr>
            </a:pPr>
            <a:r>
              <a:t>   outperforms other sites in success rate.</a:t>
            </a:r>
          </a:p>
          <a:p>
            <a:pPr algn="l">
              <a:spcBef>
                <a:spcPts val="400"/>
              </a:spcBef>
              <a:defRPr sz="4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3. Orbit type is a strong predictor: LEO, ISS,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777777"/>
                </a:solidFill>
                <a:latin typeface="Calibri"/>
              </a:defRPr>
            </a:pPr>
            <a:r>
              <a:t>   SSO, ES-L1, GEO orbits have highest success.</a:t>
            </a:r>
          </a:p>
          <a:p>
            <a:pPr algn="l">
              <a:spcBef>
                <a:spcPts val="400"/>
              </a:spcBef>
              <a:defRPr sz="4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4. Grid fins and landing legs are strong indicators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777777"/>
                </a:solidFill>
                <a:latin typeface="Calibri"/>
              </a:defRPr>
            </a:pPr>
            <a:r>
              <a:t>   of landing capability (enabled on later missions).</a:t>
            </a:r>
          </a:p>
          <a:p>
            <a:pPr algn="l">
              <a:spcBef>
                <a:spcPts val="400"/>
              </a:spcBef>
              <a:defRPr sz="4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5. All ML models perform comparably (~83% accuracy)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777777"/>
                </a:solidFill>
                <a:latin typeface="Calibri"/>
              </a:defRPr>
            </a:pPr>
            <a:r>
              <a:t>   with Decision Tree showing highest CV performance.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2000" b="1">
                <a:solidFill>
                  <a:srgbClr val="1B2A4A"/>
                </a:solidFill>
                <a:latin typeface="Calibri"/>
              </a:defRPr>
            </a:pPr>
            <a:r>
              <a:t>Limitations:</a:t>
            </a:r>
          </a:p>
          <a:p>
            <a:pPr algn="l">
              <a:spcBef>
                <a:spcPts val="400"/>
              </a:spcBef>
              <a:defRPr sz="4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Small dataset (90 samples, 18 test) limits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777777"/>
                </a:solidFill>
                <a:latin typeface="Calibri"/>
              </a:defRPr>
            </a:pPr>
            <a:r>
              <a:t>  statistical power and model differentiation.</a:t>
            </a:r>
          </a:p>
          <a:p>
            <a:pPr algn="l">
              <a:spcBef>
                <a:spcPts val="400"/>
              </a:spcBef>
              <a:defRPr sz="4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Binary classification oversimplifies outcomes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777777"/>
                </a:solidFill>
                <a:latin typeface="Calibri"/>
              </a:defRPr>
            </a:pPr>
            <a:r>
              <a:t>  (controlled ocean landings classified as success).</a:t>
            </a:r>
          </a:p>
          <a:p>
            <a:pPr algn="l">
              <a:spcBef>
                <a:spcPts val="400"/>
              </a:spcBef>
              <a:defRPr sz="4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Data only covers 2010-2020; recent Starship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777777"/>
                </a:solidFill>
                <a:latin typeface="Calibri"/>
              </a:defRPr>
            </a:pPr>
            <a:r>
              <a:t>  developments may change competitive dynamics.</a:t>
            </a:r>
          </a:p>
          <a:p>
            <a:pPr algn="l">
              <a:spcBef>
                <a:spcPts val="400"/>
              </a:spcBef>
              <a:defRPr sz="6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2000" b="1">
                <a:solidFill>
                  <a:srgbClr val="1B2A4A"/>
                </a:solidFill>
                <a:latin typeface="Calibri"/>
              </a:defRPr>
            </a:pPr>
            <a:r>
              <a:t>Future Work: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  • Add weather data as features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  • Use ensemble models (Random Forest, XGBoost)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  • Time-series analysis of landing capability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  • Cost-benefit analysis with prediction confidence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6C1"/>
                </a:solidFill>
                <a:latin typeface="Calibri"/>
              </a:defRPr>
            </a:pPr>
            <a:r>
              <a:t>GitHub: https://github.com/RyanOrdonez/spacey-capstone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Conclusion &amp; Innovative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2200" b="1">
                <a:solidFill>
                  <a:srgbClr val="1B2A4A"/>
                </a:solidFill>
                <a:latin typeface="Calibri"/>
              </a:defRPr>
            </a:pPr>
            <a:r>
              <a:t>Conclusion:</a:t>
            </a:r>
          </a:p>
          <a:p>
            <a:pPr algn="l">
              <a:spcBef>
                <a:spcPts val="400"/>
              </a:spcBef>
              <a:defRPr sz="4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We successfully built an end-to-end data science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pipeline that predicts Falcon 9 first stage landing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outcomes with 83.33% accuracy.</a:t>
            </a:r>
          </a:p>
          <a:p>
            <a:pPr algn="l">
              <a:spcBef>
                <a:spcPts val="400"/>
              </a:spcBef>
              <a:defRPr sz="4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The Decision Tree classifier is recommended as the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primary model (CV: 88.75%). This prediction enables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SpaceY to estimate competitor launch costs and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333333"/>
                </a:solidFill>
                <a:latin typeface="Calibri"/>
              </a:defRPr>
            </a:pPr>
            <a:r>
              <a:t>develop competitive pricing strategies.</a:t>
            </a:r>
          </a:p>
          <a:p>
            <a:pPr algn="l">
              <a:spcBef>
                <a:spcPts val="400"/>
              </a:spcBef>
              <a:defRPr sz="6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2000" b="1">
                <a:solidFill>
                  <a:srgbClr val="1B2A4A"/>
                </a:solidFill>
                <a:latin typeface="Calibri"/>
              </a:defRPr>
            </a:pPr>
            <a:r>
              <a:t>Business Impact: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27AE60"/>
                </a:solidFill>
                <a:latin typeface="Calibri"/>
              </a:defRPr>
            </a:pPr>
            <a:r>
              <a:t>  • Predicted landing → bid ~$62M (reusable)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E74C3C"/>
                </a:solidFill>
                <a:latin typeface="Calibri"/>
              </a:defRPr>
            </a:pPr>
            <a:r>
              <a:t>  • Predicted failure → bid ~$165M (expendable)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1B2A4A"/>
                </a:solidFill>
                <a:latin typeface="Calibri"/>
              </a:defRPr>
            </a:pPr>
            <a:r>
              <a:t>  • Savings per correct prediction: ~$103M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2200" b="1">
                <a:solidFill>
                  <a:srgbClr val="1B2A4A"/>
                </a:solidFill>
                <a:latin typeface="Calibri"/>
              </a:defRPr>
            </a:pPr>
            <a:r>
              <a:t>Innovative Insights:</a:t>
            </a:r>
          </a:p>
          <a:p>
            <a:pPr algn="l">
              <a:spcBef>
                <a:spcPts val="400"/>
              </a:spcBef>
              <a:defRPr sz="4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500" b="1">
                <a:solidFill>
                  <a:srgbClr val="2E86C1"/>
                </a:solidFill>
                <a:latin typeface="Calibri"/>
              </a:defRPr>
            </a:pPr>
            <a:r>
              <a:t>1. Learning Curve Effect: SpaceX's landing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 success follows a classic technology adoption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 S-curve, suggesting competitors can replicate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 this with sufficient investment and iteration.</a:t>
            </a:r>
          </a:p>
          <a:p>
            <a:pPr algn="l">
              <a:spcBef>
                <a:spcPts val="400"/>
              </a:spcBef>
              <a:defRPr sz="4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500" b="1">
                <a:solidFill>
                  <a:srgbClr val="2E86C1"/>
                </a:solidFill>
                <a:latin typeface="Calibri"/>
              </a:defRPr>
            </a:pPr>
            <a:r>
              <a:t>2. Grid Fins as Innovation Marker: The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 introduction of grid fins correlates strongly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 with landing success improvement, representing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 a key engineering breakthrough.</a:t>
            </a:r>
          </a:p>
          <a:p>
            <a:pPr algn="l">
              <a:spcBef>
                <a:spcPts val="400"/>
              </a:spcBef>
              <a:defRPr sz="4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500" b="1">
                <a:solidFill>
                  <a:srgbClr val="2E86C1"/>
                </a:solidFill>
                <a:latin typeface="Calibri"/>
              </a:defRPr>
            </a:pPr>
            <a:r>
              <a:t>3. Geographic Strategy: All launch sites are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 coastal and near the equator — a pattern SpaceY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 should replicate for its own launch facilities.</a:t>
            </a:r>
          </a:p>
          <a:p>
            <a:pPr algn="l">
              <a:spcBef>
                <a:spcPts val="400"/>
              </a:spcBef>
              <a:defRPr sz="4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500" b="1">
                <a:solidFill>
                  <a:srgbClr val="2E86C1"/>
                </a:solidFill>
                <a:latin typeface="Calibri"/>
              </a:defRPr>
            </a:pPr>
            <a:r>
              <a:t>4. Payload-Orbit Optimization: Matching payload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 mass to favorable orbits (LEO, SSO) significantly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 increases the probability of first stage recovery.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6C1"/>
                </a:solidFill>
                <a:latin typeface="Calibri"/>
              </a:defRPr>
            </a:pPr>
            <a:r>
              <a:t>GitHub: https://github.com/RyanOrdonez/spacey-capstone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2000" b="1">
                <a:solidFill>
                  <a:srgbClr val="1B2A4A"/>
                </a:solidFill>
                <a:latin typeface="Calibri"/>
              </a:defRPr>
            </a:pPr>
            <a:r>
              <a:t>GitHub Repository: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2E86C1"/>
                </a:solidFill>
                <a:latin typeface="Calibri"/>
              </a:defRPr>
            </a:pPr>
            <a:r>
              <a:t>https://github.com/RyanOrdonez/spacey-capstone</a:t>
            </a:r>
          </a:p>
          <a:p>
            <a:pPr algn="l">
              <a:spcBef>
                <a:spcPts val="400"/>
              </a:spcBef>
              <a:defRPr sz="8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800" b="1">
                <a:solidFill>
                  <a:srgbClr val="1B2A4A"/>
                </a:solidFill>
                <a:latin typeface="Calibri"/>
              </a:defRPr>
            </a:pPr>
            <a:r>
              <a:t>Repository Structure: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spacey-capstone/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├── data/          CSVs, SQLite database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├── notebooks/     7 Jupyter notebooks (01-07)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├── scripts/       Helper scripts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├── sql/           SQL query scripts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├── images/        Charts &amp; confusion matrices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├── dash/          Plotly Dash application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├── output/        Folium HTML maps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├── slides/        PowerPoint &amp; PDF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├── requirements.txt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└── README.md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800" b="1">
                <a:solidFill>
                  <a:srgbClr val="1B2A4A"/>
                </a:solidFill>
                <a:latin typeface="Calibri"/>
              </a:defRPr>
            </a:pPr>
            <a:r>
              <a:t>Notebooks: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01_spacex_api_collection.ipynb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02_web_scraping.ipynb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03_data_wrangling.ipynb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04_eda.ipynb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05_sql_analysis.ipynb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06_interactive_visuals.ipynb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07_modeling.ipynb</a:t>
            </a:r>
          </a:p>
          <a:p>
            <a:pPr algn="l">
              <a:spcBef>
                <a:spcPts val="400"/>
              </a:spcBef>
              <a:defRPr sz="8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800" b="1">
                <a:solidFill>
                  <a:srgbClr val="1B2A4A"/>
                </a:solidFill>
                <a:latin typeface="Calibri"/>
              </a:defRPr>
            </a:pPr>
            <a:r>
              <a:t>Tech Stack: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Python, Pandas, NumPy, Matplotlib, Seaborn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Scikit-learn, BeautifulSoup, Requests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Folium, Plotly Dash, SQLite, Jupyter</a:t>
            </a:r>
          </a:p>
          <a:p>
            <a:pPr algn="l">
              <a:spcBef>
                <a:spcPts val="400"/>
              </a:spcBef>
              <a:defRPr sz="8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800" b="1">
                <a:solidFill>
                  <a:srgbClr val="1B2A4A"/>
                </a:solidFill>
                <a:latin typeface="Calibri"/>
              </a:defRPr>
            </a:pPr>
            <a:r>
              <a:t>Additional Charts: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• All 8 EDA charts saved in images/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• 4 confusion matrices in images/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• Model comparison bar chart in images/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• 4 Plotly Dash static charts in images/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• 3 Folium map visualizations in images/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6C1"/>
                </a:solidFill>
                <a:latin typeface="Calibri"/>
              </a:defRPr>
            </a:pPr>
            <a:r>
              <a:t>GitHub: https://github.com/RyanOrdonez/spacey-capstone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